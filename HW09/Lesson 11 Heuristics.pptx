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344" r:id="rId3"/>
    <p:sldId id="345" r:id="rId4"/>
    <p:sldId id="341" r:id="rId5"/>
    <p:sldId id="342" r:id="rId6"/>
    <p:sldId id="343" r:id="rId7"/>
    <p:sldId id="347" r:id="rId8"/>
    <p:sldId id="348" r:id="rId9"/>
    <p:sldId id="346" r:id="rId10"/>
    <p:sldId id="331" r:id="rId11"/>
    <p:sldId id="332" r:id="rId12"/>
    <p:sldId id="317" r:id="rId13"/>
    <p:sldId id="319" r:id="rId14"/>
    <p:sldId id="321" r:id="rId15"/>
    <p:sldId id="327" r:id="rId16"/>
    <p:sldId id="338" r:id="rId17"/>
    <p:sldId id="339" r:id="rId18"/>
    <p:sldId id="340" r:id="rId19"/>
    <p:sldId id="329" r:id="rId20"/>
    <p:sldId id="33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942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microsoft.com/office/2007/relationships/hdphoto" Target="../media/hdphoto4.wdp"/><Relationship Id="rId5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523220"/>
          </a:xfr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lang="en-US" sz="2800" kern="1200" dirty="0">
                <a:solidFill>
                  <a:srgbClr val="1E623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2"/>
          <p:cNvPicPr>
            <a:picLocks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" r="303"/>
          <a:stretch/>
        </p:blipFill>
        <p:spPr bwMode="auto">
          <a:xfrm>
            <a:off x="0" y="0"/>
            <a:ext cx="9144000" cy="2557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7"/>
          <p:cNvGrpSpPr/>
          <p:nvPr userDrawn="1"/>
        </p:nvGrpSpPr>
        <p:grpSpPr>
          <a:xfrm>
            <a:off x="136525" y="5400095"/>
            <a:ext cx="1920875" cy="1381705"/>
            <a:chOff x="136525" y="5353050"/>
            <a:chExt cx="1920875" cy="1381705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75000" l="1429" r="99048">
                          <a14:foregroundMark x1="66190" y1="46507" x2="66190" y2="46507"/>
                          <a14:foregroundMark x1="84444" y1="47794" x2="84444" y2="47794"/>
                          <a14:foregroundMark x1="43016" y1="30147" x2="43016" y2="30147"/>
                          <a14:foregroundMark x1="52063" y1="34007" x2="52063" y2="34007"/>
                          <a14:foregroundMark x1="65397" y1="32904" x2="65397" y2="32904"/>
                          <a14:foregroundMark x1="75238" y1="31985" x2="75238" y2="31985"/>
                          <a14:foregroundMark x1="84762" y1="30515" x2="84762" y2="30515"/>
                          <a14:foregroundMark x1="93968" y1="30147" x2="93968" y2="30147"/>
                          <a14:foregroundMark x1="38889" y1="20037" x2="38889" y2="20037"/>
                          <a14:foregroundMark x1="7778" y1="69485" x2="7778" y2="69485"/>
                          <a14:foregroundMark x1="19048" y1="68566" x2="19048" y2="68566"/>
                          <a14:foregroundMark x1="26349" y1="68566" x2="26349" y2="68566"/>
                          <a14:foregroundMark x1="38413" y1="68934" x2="38413" y2="68934"/>
                          <a14:foregroundMark x1="47143" y1="67463" x2="47143" y2="67463"/>
                          <a14:foregroundMark x1="58730" y1="68934" x2="58730" y2="68934"/>
                          <a14:foregroundMark x1="67460" y1="68566" x2="67460" y2="68566"/>
                          <a14:foregroundMark x1="75714" y1="69853" x2="75714" y2="69853"/>
                          <a14:foregroundMark x1="84444" y1="69485" x2="84444" y2="69485"/>
                          <a14:foregroundMark x1="95079" y1="68934" x2="95079" y2="68934"/>
                        </a14:backgroundRemoval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898" b="16632"/>
            <a:stretch/>
          </p:blipFill>
          <p:spPr bwMode="auto">
            <a:xfrm>
              <a:off x="136525" y="5566824"/>
              <a:ext cx="1920875" cy="1167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24816" l="10000" r="900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524" r="46258" b="74203"/>
            <a:stretch/>
          </p:blipFill>
          <p:spPr bwMode="auto">
            <a:xfrm>
              <a:off x="588397" y="5353050"/>
              <a:ext cx="580445" cy="427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TextBox 10"/>
          <p:cNvSpPr txBox="1"/>
          <p:nvPr userDrawn="1"/>
        </p:nvSpPr>
        <p:spPr>
          <a:xfrm>
            <a:off x="2221675" y="5932451"/>
            <a:ext cx="3538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E6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Systems Engineering</a:t>
            </a:r>
            <a:br>
              <a:rPr lang="en-US" dirty="0">
                <a:solidFill>
                  <a:srgbClr val="1E6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1E62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Operations Research</a:t>
            </a:r>
          </a:p>
        </p:txBody>
      </p:sp>
    </p:spTree>
    <p:extLst>
      <p:ext uri="{BB962C8B-B14F-4D97-AF65-F5344CB8AC3E}">
        <p14:creationId xmlns:p14="http://schemas.microsoft.com/office/powerpoint/2010/main" val="52121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DBBF4D8-BDFF-426B-A02C-80E3122D3F8E}" type="datetime1">
              <a:rPr lang="en-US">
                <a:solidFill>
                  <a:srgbClr val="000000"/>
                </a:solidFill>
              </a:rPr>
              <a:pPr/>
              <a:t>4/16/2019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670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91588D3-8B7F-4807-A820-9735931A9D3A}" type="datetime1">
              <a:rPr lang="en-US">
                <a:solidFill>
                  <a:srgbClr val="000000"/>
                </a:solidFill>
              </a:rPr>
              <a:pPr/>
              <a:t>4/16/2019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5203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9A22584-BCF7-4BD0-83D6-392A101C318C}" type="datetime1">
              <a:rPr lang="en-US">
                <a:solidFill>
                  <a:srgbClr val="000000"/>
                </a:solidFill>
              </a:rPr>
              <a:pPr/>
              <a:t>4/16/2019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68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8C31E67-077E-4FEE-991B-32EBC7B902EB}" type="datetime1">
              <a:rPr lang="en-US">
                <a:solidFill>
                  <a:srgbClr val="000000"/>
                </a:solidFill>
              </a:rPr>
              <a:pPr/>
              <a:t>4/16/2019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881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745D115-C941-44CB-83A5-16DB5368356C}" type="datetime1">
              <a:rPr lang="en-US">
                <a:solidFill>
                  <a:srgbClr val="000000"/>
                </a:solidFill>
              </a:rPr>
              <a:pPr/>
              <a:t>4/16/2019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914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06CB504-5E18-4E5C-A3CB-887AC45FF531}" type="datetime1">
              <a:rPr lang="en-US">
                <a:solidFill>
                  <a:srgbClr val="000000"/>
                </a:solidFill>
              </a:rPr>
              <a:pPr/>
              <a:t>4/16/2019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30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714392C-55FC-4B5D-96B0-EEA92525163D}" type="datetime1">
              <a:rPr lang="en-US">
                <a:solidFill>
                  <a:srgbClr val="000000"/>
                </a:solidFill>
              </a:rPr>
              <a:pPr/>
              <a:t>4/16/2019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089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811C43-8C40-4588-B7F3-EBF6C2BA2994}" type="datetime1">
              <a:rPr lang="en-US">
                <a:solidFill>
                  <a:srgbClr val="000000"/>
                </a:solidFill>
              </a:rPr>
              <a:pPr/>
              <a:t>4/16/2019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4929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1F380D5-8039-486A-A845-DEC23FAB4568}" type="datetime1">
              <a:rPr lang="en-US">
                <a:solidFill>
                  <a:srgbClr val="000000"/>
                </a:solidFill>
              </a:rPr>
              <a:pPr/>
              <a:t>4/16/2019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3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0AC5C2D-9714-4F39-91ED-48E506C1F1DA}" type="datetime1">
              <a:rPr lang="en-US">
                <a:solidFill>
                  <a:srgbClr val="000000"/>
                </a:solidFill>
              </a:rPr>
              <a:pPr/>
              <a:t>4/16/2019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461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2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0" y="6553199"/>
            <a:ext cx="4572000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 kern="1200" smtClean="0">
                <a:solidFill>
                  <a:srgbClr val="1E6238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40E139D-8F7D-43AA-BBE4-93467E6317BC}" type="slidenum">
              <a:rPr/>
              <a:pPr/>
              <a:t>‹#›</a:t>
            </a:fld>
            <a:endParaRPr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-4641" y="1087343"/>
            <a:ext cx="9144000" cy="0"/>
          </a:xfrm>
          <a:prstGeom prst="line">
            <a:avLst/>
          </a:prstGeom>
          <a:ln w="76200">
            <a:solidFill>
              <a:srgbClr val="E2A8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76200">
            <a:solidFill>
              <a:srgbClr val="1E62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7828057" y="60305"/>
            <a:ext cx="1248566" cy="898108"/>
            <a:chOff x="136525" y="5353050"/>
            <a:chExt cx="1920875" cy="1381705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1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0" b="75000" l="1429" r="99048">
                          <a14:foregroundMark x1="66190" y1="46507" x2="66190" y2="46507"/>
                          <a14:foregroundMark x1="84444" y1="47794" x2="84444" y2="47794"/>
                          <a14:foregroundMark x1="43016" y1="30147" x2="43016" y2="30147"/>
                          <a14:foregroundMark x1="52063" y1="34007" x2="52063" y2="34007"/>
                          <a14:foregroundMark x1="65397" y1="32904" x2="65397" y2="32904"/>
                          <a14:foregroundMark x1="75238" y1="31985" x2="75238" y2="31985"/>
                          <a14:foregroundMark x1="84762" y1="30515" x2="84762" y2="30515"/>
                          <a14:foregroundMark x1="93968" y1="30147" x2="93968" y2="30147"/>
                          <a14:foregroundMark x1="38889" y1="20037" x2="38889" y2="20037"/>
                          <a14:foregroundMark x1="7778" y1="69485" x2="7778" y2="69485"/>
                          <a14:foregroundMark x1="19048" y1="68566" x2="19048" y2="68566"/>
                          <a14:foregroundMark x1="26349" y1="68566" x2="26349" y2="68566"/>
                          <a14:foregroundMark x1="38413" y1="68934" x2="38413" y2="68934"/>
                          <a14:foregroundMark x1="47143" y1="67463" x2="47143" y2="67463"/>
                          <a14:foregroundMark x1="58730" y1="68934" x2="58730" y2="68934"/>
                          <a14:foregroundMark x1="67460" y1="68566" x2="67460" y2="68566"/>
                          <a14:foregroundMark x1="75714" y1="69853" x2="75714" y2="69853"/>
                          <a14:foregroundMark x1="84444" y1="69485" x2="84444" y2="69485"/>
                          <a14:foregroundMark x1="95079" y1="68934" x2="95079" y2="68934"/>
                        </a14:backgroundRemoval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898" b="16632"/>
            <a:stretch/>
          </p:blipFill>
          <p:spPr bwMode="auto">
            <a:xfrm>
              <a:off x="136525" y="5566824"/>
              <a:ext cx="1920875" cy="1167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2"/>
            <p:cNvPicPr>
              <a:picLocks noChangeAspect="1" noChangeArrowheads="1"/>
            </p:cNvPicPr>
            <p:nvPr/>
          </p:nvPicPr>
          <p:blipFill rotWithShape="1">
            <a:blip r:embed="rId1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0" b="24816" l="10000" r="900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524" r="46258" b="74203"/>
            <a:stretch/>
          </p:blipFill>
          <p:spPr bwMode="auto">
            <a:xfrm>
              <a:off x="588397" y="5353050"/>
              <a:ext cx="580445" cy="427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5282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OR 604</a:t>
            </a:r>
            <a:br>
              <a:rPr lang="en-US" dirty="0"/>
            </a:br>
            <a:r>
              <a:rPr lang="en-US" dirty="0"/>
              <a:t>Practical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892552"/>
          </a:xfrm>
        </p:spPr>
        <p:txBody>
          <a:bodyPr/>
          <a:lstStyle/>
          <a:p>
            <a:r>
              <a:rPr lang="en-US" dirty="0"/>
              <a:t>Lesson 11:  NFL Case Study</a:t>
            </a:r>
          </a:p>
          <a:p>
            <a:r>
              <a:rPr lang="en-US" sz="2000" dirty="0"/>
              <a:t>Designing and Implementing Heuristics</a:t>
            </a:r>
          </a:p>
        </p:txBody>
      </p:sp>
    </p:spTree>
    <p:extLst>
      <p:ext uri="{BB962C8B-B14F-4D97-AF65-F5344CB8AC3E}">
        <p14:creationId xmlns:p14="http://schemas.microsoft.com/office/powerpoint/2010/main" val="221087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08 (60 points)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2808"/>
            <a:ext cx="8229600" cy="5130067"/>
          </a:xfrm>
        </p:spPr>
        <p:txBody>
          <a:bodyPr>
            <a:normAutofit fontScale="92500" lnSpcReduction="10000"/>
          </a:bodyPr>
          <a:lstStyle/>
          <a:p>
            <a:r>
              <a:rPr lang="en-US" sz="1400" dirty="0"/>
              <a:t>Build a (0,1) integer programming model built off of your submission for HW 07 that develops the 2018 NFL schedule.</a:t>
            </a:r>
          </a:p>
          <a:p>
            <a:r>
              <a:rPr lang="en-US" sz="1400" dirty="0"/>
              <a:t>Adds the following constraints to the constraints you have already developed (1-20)</a:t>
            </a:r>
          </a:p>
          <a:p>
            <a:r>
              <a:rPr lang="en-US" sz="1400" dirty="0"/>
              <a:t>And maximizes game quality across the season while violating as few soft constraints as possible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Add the following hard constraints:</a:t>
            </a:r>
          </a:p>
          <a:p>
            <a:pPr marL="800100" lvl="1" indent="-342900">
              <a:buFont typeface="+mj-lt"/>
              <a:buAutoNum type="arabicPeriod" startAt="21"/>
            </a:pPr>
            <a:r>
              <a:rPr lang="en-US" sz="1200" dirty="0"/>
              <a:t>No team plays more than 2 road games against teams coming off a BYE (8 points) </a:t>
            </a:r>
            <a:r>
              <a:rPr lang="en-US" sz="1200" dirty="0">
                <a:solidFill>
                  <a:srgbClr val="FF0000"/>
                </a:solidFill>
              </a:rPr>
              <a:t>(</a:t>
            </a:r>
            <a:r>
              <a:rPr 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 Remember linking variables)</a:t>
            </a:r>
            <a:endParaRPr lang="en-US" sz="1200" dirty="0">
              <a:sym typeface="Wingdings" panose="05000000000000000000" pitchFamily="2" charset="2"/>
            </a:endParaRPr>
          </a:p>
          <a:p>
            <a:pPr marL="800100" lvl="1" indent="-342900">
              <a:buFont typeface="+mj-lt"/>
              <a:buAutoNum type="arabicPeriod" startAt="21"/>
            </a:pPr>
            <a:r>
              <a:rPr lang="en-US" sz="1200" dirty="0"/>
              <a:t>Division opponents cannot play each other:</a:t>
            </a:r>
          </a:p>
          <a:p>
            <a:pPr marL="1085850" lvl="2">
              <a:buAutoNum type="alphaLcParenR"/>
            </a:pPr>
            <a:r>
              <a:rPr lang="en-US" sz="1200" dirty="0"/>
              <a:t>Back to Back (5 points), or </a:t>
            </a:r>
          </a:p>
          <a:p>
            <a:pPr marL="1085850" lvl="2">
              <a:buAutoNum type="alphaLcParenR"/>
            </a:pPr>
            <a:r>
              <a:rPr lang="en-US" sz="1200" dirty="0"/>
              <a:t>“Gapped” with a BYE (5 points)</a:t>
            </a:r>
          </a:p>
          <a:p>
            <a:r>
              <a:rPr lang="en-US" sz="1400" dirty="0"/>
              <a:t>Add the following soft constraints:</a:t>
            </a:r>
          </a:p>
          <a:p>
            <a:pPr marL="685800" lvl="1" indent="-228600">
              <a:buFont typeface="+mj-lt"/>
              <a:buAutoNum type="arabicPeriod" startAt="22"/>
            </a:pPr>
            <a:r>
              <a:rPr lang="en-US" sz="1200" dirty="0"/>
              <a:t>Teams should not play 3 consecutive home/away games between weeks 4 through 16 (if a team does play 3 consecutive games home or away it can only happen once in the season for that team – i.e., if the team has a 3 game stand at home, then it cannot have a 3 game stand on the road) (8 points)</a:t>
            </a:r>
          </a:p>
          <a:p>
            <a:pPr marL="685800" lvl="1" indent="-228600">
              <a:buFont typeface="+mj-lt"/>
              <a:buAutoNum type="arabicPeriod" startAt="22"/>
            </a:pPr>
            <a:r>
              <a:rPr lang="en-US" sz="1200" dirty="0"/>
              <a:t>No team should play consecutive road games involving travel across more than 1 time zone (5 points)</a:t>
            </a:r>
          </a:p>
          <a:p>
            <a:pPr marL="685800" lvl="1" indent="-228600">
              <a:buFont typeface="+mj-lt"/>
              <a:buAutoNum type="arabicPeriod" startAt="22"/>
            </a:pPr>
            <a:r>
              <a:rPr lang="en-US" sz="1200" dirty="0"/>
              <a:t>No team should open the season with two away games (3 points)</a:t>
            </a:r>
          </a:p>
          <a:p>
            <a:pPr marL="685800" lvl="1" indent="-228600">
              <a:buFont typeface="+mj-lt"/>
              <a:buAutoNum type="arabicPeriod" startAt="22"/>
            </a:pPr>
            <a:r>
              <a:rPr lang="en-US" sz="1200" dirty="0"/>
              <a:t>No team should end the season with two away games (2 points)</a:t>
            </a:r>
          </a:p>
          <a:p>
            <a:pPr marL="685800" lvl="1" indent="-228600">
              <a:buFont typeface="+mj-lt"/>
              <a:buAutoNum type="arabicPeriod" startAt="22"/>
            </a:pPr>
            <a:r>
              <a:rPr lang="en-US" sz="1200" dirty="0"/>
              <a:t>Florida teams should not play Early home games in the month of SEPT (3 points)</a:t>
            </a:r>
          </a:p>
          <a:p>
            <a:pPr marL="685800" lvl="1" indent="-228600">
              <a:buFont typeface="+mj-lt"/>
              <a:buAutoNum type="arabicPeriod" startAt="22"/>
            </a:pPr>
            <a:r>
              <a:rPr lang="en-US" sz="1200" dirty="0"/>
              <a:t>CBS and FOX should not have fewer than 5 games each on a Sunday.  If it does happen, it can only happen once in the season for each network (6 points)</a:t>
            </a:r>
          </a:p>
          <a:p>
            <a:pPr marL="685800" lvl="1" indent="-228600">
              <a:buFont typeface="+mj-lt"/>
              <a:buAutoNum type="arabicPeriod" startAt="22"/>
            </a:pPr>
            <a:r>
              <a:rPr lang="en-US" sz="1200" dirty="0"/>
              <a:t>CBS and FOX should not lose both games between divisional opponents for their assigned conference (FOX is assigned NFC, CBS is assigned AFC) (5 points)</a:t>
            </a:r>
          </a:p>
          <a:p>
            <a:pPr marL="685800" lvl="1" indent="-228600">
              <a:buFont typeface="+mj-lt"/>
              <a:buAutoNum type="arabicPeriod" startAt="22"/>
            </a:pPr>
            <a:r>
              <a:rPr lang="en-US" sz="1200" dirty="0"/>
              <a:t>The series between two divisional opponents should not end in the first half of the season (weeks 1 through 9) (5 points)</a:t>
            </a:r>
          </a:p>
          <a:p>
            <a:pPr marL="685800" lvl="1" indent="-228600">
              <a:buFont typeface="+mj-lt"/>
              <a:buAutoNum type="arabicPeriod" startAt="22"/>
            </a:pPr>
            <a:r>
              <a:rPr lang="en-US" sz="1200" dirty="0"/>
              <a:t>Teams should not play on the road the week following a Monday night game (5 points)</a:t>
            </a:r>
          </a:p>
          <a:p>
            <a:r>
              <a:rPr lang="en-US" sz="1400" dirty="0">
                <a:solidFill>
                  <a:srgbClr val="000000"/>
                </a:solidFill>
              </a:rPr>
              <a:t>Constraint names will use the same convention as used for HW06: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</a:rPr>
              <a:t>Constraint names will start with the constraint number (i.e., 21_, 22_, 23_, 24_…30_)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</a:rPr>
              <a:t>Do not mess this up – your grade is counting on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8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Pedagogical Approach for Rest of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longer in class; we are at work</a:t>
            </a:r>
          </a:p>
          <a:p>
            <a:r>
              <a:rPr lang="en-US" dirty="0"/>
              <a:t>I am the senior OR Analyst/Data Scientist/Project Manager</a:t>
            </a:r>
          </a:p>
          <a:p>
            <a:r>
              <a:rPr lang="en-US" dirty="0"/>
              <a:t>You are one of the members of my team</a:t>
            </a:r>
          </a:p>
          <a:p>
            <a:r>
              <a:rPr lang="en-US" dirty="0"/>
              <a:t>Team consists of:</a:t>
            </a:r>
          </a:p>
          <a:p>
            <a:pPr lvl="1"/>
            <a:r>
              <a:rPr lang="en-US" dirty="0"/>
              <a:t>Rudy, Brian, Tony, Yasser, me, and…</a:t>
            </a:r>
          </a:p>
          <a:p>
            <a:pPr lvl="1"/>
            <a:r>
              <a:rPr lang="en-US" dirty="0"/>
              <a:t>You</a:t>
            </a:r>
          </a:p>
          <a:p>
            <a:r>
              <a:rPr lang="en-US" dirty="0"/>
              <a:t>Our current task is to help the NFL solve its scheduling problem.  We will:</a:t>
            </a:r>
          </a:p>
          <a:p>
            <a:pPr lvl="1"/>
            <a:r>
              <a:rPr lang="en-US" dirty="0"/>
              <a:t>Review the high-level problem</a:t>
            </a:r>
          </a:p>
          <a:p>
            <a:pPr lvl="1"/>
            <a:r>
              <a:rPr lang="en-US" dirty="0"/>
              <a:t>Restate the problem</a:t>
            </a:r>
          </a:p>
          <a:p>
            <a:pPr lvl="1"/>
            <a:r>
              <a:rPr lang="en-US" dirty="0"/>
              <a:t>Brainstorm several approaches to solve the problem</a:t>
            </a:r>
          </a:p>
          <a:p>
            <a:pPr lvl="1"/>
            <a:r>
              <a:rPr lang="en-US" dirty="0"/>
              <a:t>Allocate tasks to team members to solve the problem</a:t>
            </a:r>
          </a:p>
          <a:p>
            <a:r>
              <a:rPr lang="en-US" dirty="0"/>
              <a:t>You will have one week to accomplish manageable tasks I assign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0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NFL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Problem:  The real model used by the NFL is substantial in size</a:t>
            </a:r>
          </a:p>
          <a:p>
            <a:pPr lvl="1"/>
            <a:r>
              <a:rPr lang="en-US" dirty="0"/>
              <a:t>700+ sets of constraints (over 35,000 constraints in total)</a:t>
            </a:r>
          </a:p>
          <a:p>
            <a:pPr lvl="1"/>
            <a:r>
              <a:rPr lang="en-US" dirty="0"/>
              <a:t>It is over constrained</a:t>
            </a:r>
          </a:p>
          <a:p>
            <a:pPr lvl="1"/>
            <a:r>
              <a:rPr lang="en-US" dirty="0"/>
              <a:t>It is a combinatorial optimization problem</a:t>
            </a:r>
          </a:p>
          <a:p>
            <a:pPr lvl="1"/>
            <a:r>
              <a:rPr lang="en-US" dirty="0"/>
              <a:t>They need to see answers each day so they can adjust their model</a:t>
            </a:r>
          </a:p>
          <a:p>
            <a:pPr lvl="1"/>
            <a:r>
              <a:rPr lang="en-US" dirty="0"/>
              <a:t>The current model will not solve in a day</a:t>
            </a:r>
          </a:p>
          <a:p>
            <a:r>
              <a:rPr lang="en-US" dirty="0"/>
              <a:t>Current NFL strategy:  Seed the solution with a fixed set of games before solving</a:t>
            </a:r>
          </a:p>
          <a:p>
            <a:pPr lvl="1"/>
            <a:r>
              <a:rPr lang="en-US" dirty="0"/>
              <a:t>Fixing (setting variable equal to 1) about 20% of the games drastically reduces the solution space for each problem</a:t>
            </a:r>
          </a:p>
          <a:p>
            <a:pPr lvl="1"/>
            <a:r>
              <a:rPr lang="en-US" dirty="0"/>
              <a:t>Generate many </a:t>
            </a:r>
            <a:r>
              <a:rPr lang="en-US" dirty="0" err="1"/>
              <a:t>many</a:t>
            </a:r>
            <a:r>
              <a:rPr lang="en-US" dirty="0"/>
              <a:t> seeds (each night – 10,000’s) and solve as many of the seeded schedules as you can each evening</a:t>
            </a:r>
          </a:p>
          <a:p>
            <a:pPr lvl="1"/>
            <a:r>
              <a:rPr lang="en-US" dirty="0"/>
              <a:t>This heuristic approach means you may not explore the entire solution space and therefore will be suboptimal</a:t>
            </a:r>
          </a:p>
          <a:p>
            <a:r>
              <a:rPr lang="en-US" dirty="0"/>
              <a:t>The problem with the current strategy:  Most of seeds generated by the system result in infeasible schedules</a:t>
            </a:r>
          </a:p>
          <a:p>
            <a:pPr lvl="1"/>
            <a:r>
              <a:rPr lang="en-US" dirty="0"/>
              <a:t>It has happened that the NFL has come back and has no solutions at all because all of the seeds were infeasible</a:t>
            </a:r>
          </a:p>
          <a:p>
            <a:r>
              <a:rPr lang="en-US" dirty="0"/>
              <a:t>Our mission:  Make a better seed selection algorithm </a:t>
            </a:r>
            <a:r>
              <a:rPr lang="en-US" dirty="0">
                <a:sym typeface="Wingdings" panose="05000000000000000000" pitchFamily="2" charset="2"/>
              </a:rPr>
              <a:t> this will guide the rest of the lectures from 11 through 14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6445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Current NFL Seeding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/>
              <a:t>Step 1: Solve an LP relaxation of the original problem</a:t>
            </a:r>
          </a:p>
          <a:p>
            <a:r>
              <a:rPr lang="en-US" sz="1800" dirty="0"/>
              <a:t>Step 2: Find the primetime games in the solution that have a value above minimum threshold (assume .3 for now)</a:t>
            </a:r>
          </a:p>
          <a:p>
            <a:r>
              <a:rPr lang="en-US" sz="1800" dirty="0"/>
              <a:t>Step 3: Seed the schedule with the primetime games with the highest values first. Do not repeat match up or slot.</a:t>
            </a:r>
          </a:p>
          <a:p>
            <a:r>
              <a:rPr lang="en-US" sz="1800" dirty="0"/>
              <a:t>Step 4: If all primetime games are seeded: Go to step 6</a:t>
            </a:r>
            <a:br>
              <a:rPr lang="en-US" sz="1800" dirty="0"/>
            </a:br>
            <a:r>
              <a:rPr lang="en-US" sz="1800" dirty="0"/>
              <a:t>              Else:  Seed LP relaxation with selected seed games fixed at 1</a:t>
            </a:r>
          </a:p>
          <a:p>
            <a:r>
              <a:rPr lang="en-US" sz="1800" dirty="0"/>
              <a:t>Step 5: Go to Step 1</a:t>
            </a:r>
          </a:p>
          <a:p>
            <a:r>
              <a:rPr lang="en-US" sz="1800" dirty="0"/>
              <a:t>Step 6: Fix all selected games at 1, write model file to directory with fixed games</a:t>
            </a:r>
          </a:p>
          <a:p>
            <a:r>
              <a:rPr lang="en-US" sz="1800" dirty="0"/>
              <a:t>Step 7:  If you have enough solutions:  Stop</a:t>
            </a:r>
            <a:br>
              <a:rPr lang="en-US" sz="1800" dirty="0"/>
            </a:br>
            <a:r>
              <a:rPr lang="en-US" sz="1800" dirty="0"/>
              <a:t>	    Else: Add a “solution cut” to the model, save the model, go to Step 1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End result is a finite number of seeded model files</a:t>
            </a:r>
          </a:p>
          <a:p>
            <a:pPr marL="0" indent="0">
              <a:buNone/>
            </a:pPr>
            <a:r>
              <a:rPr lang="en-US" sz="1800" dirty="0"/>
              <a:t>Each model file is then processed in a queue and passed to a number of servers to solve until the queue is empty or until 8:00 AM the following morning</a:t>
            </a:r>
          </a:p>
          <a:p>
            <a:pPr marL="0" indent="0">
              <a:buNone/>
            </a:pPr>
            <a:r>
              <a:rPr lang="en-US" sz="1800" dirty="0"/>
              <a:t>Each iteration of generating a seed takes about 10 seconds or less</a:t>
            </a:r>
          </a:p>
        </p:txBody>
      </p:sp>
    </p:spTree>
    <p:extLst>
      <p:ext uri="{BB962C8B-B14F-4D97-AF65-F5344CB8AC3E}">
        <p14:creationId xmlns:p14="http://schemas.microsoft.com/office/powerpoint/2010/main" val="117530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NFL’s concerns are:</a:t>
            </a:r>
          </a:p>
          <a:p>
            <a:pPr lvl="1"/>
            <a:r>
              <a:rPr lang="en-US" dirty="0"/>
              <a:t>Not exploring the solution space fully</a:t>
            </a:r>
          </a:p>
          <a:p>
            <a:pPr lvl="1"/>
            <a:r>
              <a:rPr lang="en-US" dirty="0"/>
              <a:t>Too much time spent on generating “bad” seeds</a:t>
            </a:r>
          </a:p>
          <a:p>
            <a:r>
              <a:rPr lang="en-US" dirty="0"/>
              <a:t>Our objective:</a:t>
            </a:r>
          </a:p>
          <a:p>
            <a:pPr lvl="1"/>
            <a:r>
              <a:rPr lang="en-US" dirty="0"/>
              <a:t>Reduce the number of bad seeds generated by eliminating many bad combinations before they can be considered</a:t>
            </a:r>
          </a:p>
          <a:p>
            <a:pPr lvl="1"/>
            <a:r>
              <a:rPr lang="en-US" dirty="0"/>
              <a:t>Focusing on “valid” seeds allows the NFL to explore more of the solution space</a:t>
            </a:r>
          </a:p>
          <a:p>
            <a:r>
              <a:rPr lang="en-US" dirty="0"/>
              <a:t>We do this by:</a:t>
            </a:r>
          </a:p>
          <a:p>
            <a:pPr lvl="1"/>
            <a:r>
              <a:rPr lang="en-US" dirty="0"/>
              <a:t>Brainstorm time!!!</a:t>
            </a:r>
          </a:p>
        </p:txBody>
      </p:sp>
    </p:spTree>
    <p:extLst>
      <p:ext uri="{BB962C8B-B14F-4D97-AF65-F5344CB8AC3E}">
        <p14:creationId xmlns:p14="http://schemas.microsoft.com/office/powerpoint/2010/main" val="2880335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methods immediately come to mind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Leverage and improve current processes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Create fake “Bender’s decomposition” of model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Create “</a:t>
            </a:r>
            <a:r>
              <a:rPr lang="en-US" dirty="0" err="1"/>
              <a:t>Dantzig</a:t>
            </a:r>
            <a:r>
              <a:rPr lang="en-US" dirty="0"/>
              <a:t>-Wolfe” decomposition of model, leverage elementary shortest path algorithm as the sub-problems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Convert model to iterative constraint programming model and add cuts until solution is no longer feasible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Create Genetic Algorithm of model coupled with Kidney transplant model to make feasible “mutations”; split on rows instead of columns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Tell Rudy to figure it out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28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NFL’s concerns are: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Not exploring the solution space fully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Too much time spent on generating “bad” seeds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Our objective: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Reduce the number of bad seeds generated by eliminating many bad combinations before they can be considered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Focusing on “valid” seeds allows the NFL to explore more of the solution space</a:t>
            </a:r>
          </a:p>
          <a:p>
            <a:r>
              <a:rPr lang="en-US" dirty="0"/>
              <a:t>You improve current process by focusing on Approach 1</a:t>
            </a:r>
          </a:p>
          <a:p>
            <a:r>
              <a:rPr lang="en-US" dirty="0"/>
              <a:t>Your implementation consists of:</a:t>
            </a:r>
          </a:p>
          <a:p>
            <a:pPr lvl="1"/>
            <a:r>
              <a:rPr lang="en-US" dirty="0"/>
              <a:t>1) Eliminating bad variables before the relaxation solves</a:t>
            </a:r>
          </a:p>
          <a:p>
            <a:pPr lvl="1"/>
            <a:r>
              <a:rPr lang="en-US" dirty="0"/>
              <a:t>2) Not fully relaxing the LP when we solve (eliminates bad combinations)</a:t>
            </a:r>
          </a:p>
        </p:txBody>
      </p:sp>
    </p:spTree>
    <p:extLst>
      <p:ext uri="{BB962C8B-B14F-4D97-AF65-F5344CB8AC3E}">
        <p14:creationId xmlns:p14="http://schemas.microsoft.com/office/powerpoint/2010/main" val="1549039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Plan For Your Heuristic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Part 1:  Find bad variables (this lesson)</a:t>
            </a:r>
          </a:p>
          <a:p>
            <a:pPr lvl="1"/>
            <a:r>
              <a:rPr lang="en-US" dirty="0"/>
              <a:t>Iterate over all primetime variables in the model</a:t>
            </a:r>
          </a:p>
          <a:p>
            <a:pPr lvl="1"/>
            <a:r>
              <a:rPr lang="en-US" dirty="0"/>
              <a:t>Determine if the variable can be in the schedule or not</a:t>
            </a:r>
          </a:p>
          <a:p>
            <a:pPr lvl="1"/>
            <a:r>
              <a:rPr lang="en-US" dirty="0"/>
              <a:t>If it cannot be included, set its upper bound to 0</a:t>
            </a:r>
          </a:p>
          <a:p>
            <a:pPr lvl="1"/>
            <a:r>
              <a:rPr lang="en-US" dirty="0"/>
              <a:t>After all variables have been checked; do it again until no variables change their bounds</a:t>
            </a:r>
          </a:p>
          <a:p>
            <a:pPr lvl="1"/>
            <a:r>
              <a:rPr lang="en-US" dirty="0"/>
              <a:t>Save the model file with infeasible variables fixed at 0</a:t>
            </a:r>
          </a:p>
          <a:p>
            <a:r>
              <a:rPr lang="en-US" dirty="0"/>
              <a:t>Part 2: Generate seeds with a better approach (not going to happen)</a:t>
            </a:r>
          </a:p>
          <a:p>
            <a:pPr lvl="1"/>
            <a:r>
              <a:rPr lang="en-US" dirty="0"/>
              <a:t>Given the reduced model</a:t>
            </a:r>
          </a:p>
          <a:p>
            <a:pPr lvl="1"/>
            <a:r>
              <a:rPr lang="en-US" dirty="0"/>
              <a:t>Change all variables except for Primetime to continuous</a:t>
            </a:r>
          </a:p>
          <a:p>
            <a:pPr lvl="1"/>
            <a:r>
              <a:rPr lang="en-US" dirty="0"/>
              <a:t>Set objective function value of all variables to 0 (we’ll see why later)</a:t>
            </a:r>
          </a:p>
          <a:p>
            <a:pPr lvl="1"/>
            <a:r>
              <a:rPr lang="en-US" dirty="0"/>
              <a:t>Solve the model and capture all primetime variables fixed to 1</a:t>
            </a:r>
          </a:p>
          <a:p>
            <a:pPr lvl="1"/>
            <a:r>
              <a:rPr lang="en-US" dirty="0"/>
              <a:t>Save the solution</a:t>
            </a:r>
          </a:p>
          <a:p>
            <a:pPr lvl="1"/>
            <a:r>
              <a:rPr lang="en-US" dirty="0"/>
              <a:t>Generate a cut</a:t>
            </a:r>
          </a:p>
          <a:p>
            <a:pPr lvl="1"/>
            <a:r>
              <a:rPr lang="en-US" dirty="0"/>
              <a:t>Repeat the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76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Sketching Out Our Plan</a:t>
            </a:r>
          </a:p>
          <a:p>
            <a:r>
              <a:rPr lang="en-US" dirty="0"/>
              <a:t>Handy Features</a:t>
            </a:r>
          </a:p>
          <a:p>
            <a:pPr lvl="1"/>
            <a:r>
              <a:rPr lang="en-US" dirty="0"/>
              <a:t>Reading in a model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Accessing variables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Accessing constraints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Computing the IIS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Reading the IIS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Changing variable bounds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Implementing Our Plan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Homework 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863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in a model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would you read a model file instead of build it?</a:t>
            </a:r>
          </a:p>
          <a:p>
            <a:pPr lvl="1"/>
            <a:r>
              <a:rPr lang="en-US" dirty="0"/>
              <a:t>Model files cannot be shared across a network or server</a:t>
            </a:r>
          </a:p>
          <a:p>
            <a:pPr lvl="1"/>
            <a:r>
              <a:rPr lang="en-US" dirty="0"/>
              <a:t>Sometimes the model file takes too long to build</a:t>
            </a:r>
          </a:p>
          <a:p>
            <a:r>
              <a:rPr lang="en-US" dirty="0"/>
              <a:t>Work around:</a:t>
            </a:r>
          </a:p>
          <a:p>
            <a:pPr lvl="1"/>
            <a:r>
              <a:rPr lang="en-US" dirty="0"/>
              <a:t>Transfer the model as  a file</a:t>
            </a:r>
          </a:p>
          <a:p>
            <a:pPr lvl="1"/>
            <a:r>
              <a:rPr lang="en-US" dirty="0"/>
              <a:t>Write it once</a:t>
            </a:r>
          </a:p>
          <a:p>
            <a:pPr lvl="1"/>
            <a:r>
              <a:rPr lang="en-US" dirty="0"/>
              <a:t>Read it as many times as necessary</a:t>
            </a:r>
          </a:p>
          <a:p>
            <a:r>
              <a:rPr lang="en-US" dirty="0"/>
              <a:t>You know how to write the file</a:t>
            </a:r>
          </a:p>
          <a:p>
            <a:r>
              <a:rPr lang="en-US" dirty="0"/>
              <a:t>Reading the file is just as easy</a:t>
            </a:r>
          </a:p>
          <a:p>
            <a:endParaRPr lang="en-US" dirty="0"/>
          </a:p>
          <a:p>
            <a:pPr marL="800100" lvl="2" indent="0">
              <a:buNone/>
            </a:pPr>
            <a:r>
              <a:rPr lang="en-US" sz="2400" dirty="0" err="1">
                <a:solidFill>
                  <a:schemeClr val="accent1"/>
                </a:solidFill>
              </a:rPr>
              <a:t>myModel</a:t>
            </a:r>
            <a:r>
              <a:rPr lang="en-US" sz="2400" dirty="0">
                <a:solidFill>
                  <a:schemeClr val="accent1"/>
                </a:solidFill>
              </a:rPr>
              <a:t> = </a:t>
            </a:r>
            <a:r>
              <a:rPr lang="en-US" sz="2400" dirty="0" err="1">
                <a:solidFill>
                  <a:schemeClr val="accent1"/>
                </a:solidFill>
              </a:rPr>
              <a:t>grb.Model</a:t>
            </a:r>
            <a:r>
              <a:rPr lang="en-US" sz="2400" dirty="0">
                <a:solidFill>
                  <a:schemeClr val="accent1"/>
                </a:solidFill>
              </a:rPr>
              <a:t>()</a:t>
            </a:r>
          </a:p>
          <a:p>
            <a:pPr marL="800100" lvl="2" indent="0">
              <a:buNone/>
            </a:pPr>
            <a:r>
              <a:rPr lang="en-US" sz="2400" dirty="0" err="1">
                <a:solidFill>
                  <a:schemeClr val="accent1"/>
                </a:solidFill>
              </a:rPr>
              <a:t>myModel</a:t>
            </a:r>
            <a:r>
              <a:rPr lang="en-US" sz="2400" dirty="0">
                <a:solidFill>
                  <a:schemeClr val="accent1"/>
                </a:solidFill>
              </a:rPr>
              <a:t> = </a:t>
            </a:r>
            <a:r>
              <a:rPr lang="en-US" sz="2400" dirty="0" err="1">
                <a:solidFill>
                  <a:schemeClr val="accent1"/>
                </a:solidFill>
              </a:rPr>
              <a:t>grb.read</a:t>
            </a:r>
            <a:r>
              <a:rPr lang="en-US" sz="2400" dirty="0">
                <a:solidFill>
                  <a:schemeClr val="accent1"/>
                </a:solidFill>
              </a:rPr>
              <a:t>(filename)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7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read in the file, you no longer have a Python object that holds all of the variables</a:t>
            </a:r>
          </a:p>
          <a:p>
            <a:r>
              <a:rPr lang="en-US" dirty="0"/>
              <a:t>Sometimes you might still want to manipulate the variables</a:t>
            </a:r>
          </a:p>
          <a:p>
            <a:r>
              <a:rPr lang="en-US" dirty="0"/>
              <a:t>Use the </a:t>
            </a:r>
            <a:r>
              <a:rPr lang="en-US" dirty="0" err="1"/>
              <a:t>getVars</a:t>
            </a:r>
            <a:r>
              <a:rPr lang="en-US" dirty="0"/>
              <a:t> command</a:t>
            </a:r>
          </a:p>
          <a:p>
            <a:r>
              <a:rPr lang="en-US" dirty="0"/>
              <a:t>Returns a list object</a:t>
            </a:r>
          </a:p>
          <a:p>
            <a:r>
              <a:rPr lang="en-US" dirty="0"/>
              <a:t>Might want to build a dictionary of game variables</a:t>
            </a:r>
          </a:p>
          <a:p>
            <a:pPr marL="800100" lvl="2" indent="0">
              <a:buNone/>
            </a:pPr>
            <a:r>
              <a:rPr lang="en-US" sz="2000" dirty="0" err="1">
                <a:solidFill>
                  <a:schemeClr val="accent2"/>
                </a:solidFill>
              </a:rPr>
              <a:t>myVars</a:t>
            </a:r>
            <a:r>
              <a:rPr lang="en-US" sz="2000" dirty="0">
                <a:solidFill>
                  <a:schemeClr val="accent2"/>
                </a:solidFill>
              </a:rPr>
              <a:t> = </a:t>
            </a:r>
            <a:r>
              <a:rPr lang="en-US" sz="2000" dirty="0" err="1">
                <a:solidFill>
                  <a:schemeClr val="accent2"/>
                </a:solidFill>
              </a:rPr>
              <a:t>NFL.getVars</a:t>
            </a:r>
            <a:r>
              <a:rPr lang="en-US" sz="2000" dirty="0">
                <a:solidFill>
                  <a:schemeClr val="accent2"/>
                </a:solidFill>
              </a:rPr>
              <a:t>()</a:t>
            </a:r>
          </a:p>
          <a:p>
            <a:pPr marL="800100" lvl="2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games = {} </a:t>
            </a:r>
          </a:p>
          <a:p>
            <a:pPr marL="800100" lvl="2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For v in </a:t>
            </a:r>
            <a:r>
              <a:rPr lang="en-US" sz="2000" dirty="0" err="1">
                <a:solidFill>
                  <a:schemeClr val="accent2"/>
                </a:solidFill>
              </a:rPr>
              <a:t>myVars</a:t>
            </a:r>
            <a:r>
              <a:rPr lang="en-US" sz="2000" dirty="0">
                <a:solidFill>
                  <a:schemeClr val="accent2"/>
                </a:solidFill>
              </a:rPr>
              <a:t>:</a:t>
            </a:r>
          </a:p>
          <a:p>
            <a:pPr marL="1314450" lvl="3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If </a:t>
            </a:r>
            <a:r>
              <a:rPr lang="en-US" sz="1800" dirty="0" err="1">
                <a:solidFill>
                  <a:schemeClr val="accent2"/>
                </a:solidFill>
              </a:rPr>
              <a:t>v.varName</a:t>
            </a:r>
            <a:r>
              <a:rPr lang="en-US" sz="1800" dirty="0">
                <a:solidFill>
                  <a:schemeClr val="accent2"/>
                </a:solidFill>
              </a:rPr>
              <a:t>[:4] == ‘games’:</a:t>
            </a:r>
          </a:p>
          <a:p>
            <a:pPr marL="1828800" lvl="4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games[</a:t>
            </a:r>
            <a:r>
              <a:rPr lang="en-US" sz="1600" dirty="0" err="1">
                <a:solidFill>
                  <a:schemeClr val="accent2"/>
                </a:solidFill>
              </a:rPr>
              <a:t>v.varName</a:t>
            </a:r>
            <a:r>
              <a:rPr lang="en-US" sz="1600" dirty="0">
                <a:solidFill>
                  <a:schemeClr val="accent2"/>
                </a:solidFill>
              </a:rPr>
              <a:t>] = v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11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like with variables, sometimes you want to be able to manipulate constraints</a:t>
            </a:r>
          </a:p>
          <a:p>
            <a:r>
              <a:rPr lang="en-US" dirty="0"/>
              <a:t>Use the </a:t>
            </a:r>
            <a:r>
              <a:rPr lang="en-US" dirty="0" err="1"/>
              <a:t>getConstrs</a:t>
            </a:r>
            <a:r>
              <a:rPr lang="en-US" dirty="0"/>
              <a:t>() method</a:t>
            </a:r>
          </a:p>
          <a:p>
            <a:pPr marL="800100" lvl="2" indent="0">
              <a:buNone/>
            </a:pPr>
            <a:r>
              <a:rPr lang="en-US" sz="2000" dirty="0" err="1">
                <a:solidFill>
                  <a:schemeClr val="accent2"/>
                </a:solidFill>
              </a:rPr>
              <a:t>myConstrs</a:t>
            </a:r>
            <a:r>
              <a:rPr lang="en-US" sz="2000" dirty="0">
                <a:solidFill>
                  <a:schemeClr val="accent2"/>
                </a:solidFill>
              </a:rPr>
              <a:t> = </a:t>
            </a:r>
            <a:r>
              <a:rPr lang="en-US" sz="2000" dirty="0" err="1">
                <a:solidFill>
                  <a:schemeClr val="accent2"/>
                </a:solidFill>
              </a:rPr>
              <a:t>NFL.getConstrs</a:t>
            </a:r>
            <a:r>
              <a:rPr lang="en-US" sz="2000" dirty="0">
                <a:solidFill>
                  <a:schemeClr val="accent2"/>
                </a:solidFill>
              </a:rPr>
              <a:t>()</a:t>
            </a:r>
          </a:p>
          <a:p>
            <a:pPr marL="800100" lvl="2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for c in </a:t>
            </a:r>
            <a:r>
              <a:rPr lang="en-US" sz="2000" dirty="0" err="1">
                <a:solidFill>
                  <a:schemeClr val="accent2"/>
                </a:solidFill>
              </a:rPr>
              <a:t>myConstrs</a:t>
            </a:r>
            <a:r>
              <a:rPr lang="en-US" sz="2000" dirty="0">
                <a:solidFill>
                  <a:schemeClr val="accent2"/>
                </a:solidFill>
              </a:rPr>
              <a:t>:</a:t>
            </a:r>
          </a:p>
          <a:p>
            <a:pPr marL="800100" lvl="2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    if </a:t>
            </a:r>
            <a:r>
              <a:rPr lang="en-US" sz="2000" dirty="0" err="1">
                <a:solidFill>
                  <a:schemeClr val="accent2"/>
                </a:solidFill>
              </a:rPr>
              <a:t>c.sense</a:t>
            </a:r>
            <a:r>
              <a:rPr lang="en-US" sz="2000" dirty="0">
                <a:solidFill>
                  <a:schemeClr val="accent2"/>
                </a:solidFill>
              </a:rPr>
              <a:t> == '&lt;' and </a:t>
            </a:r>
            <a:r>
              <a:rPr lang="en-US" sz="2000" dirty="0" err="1">
                <a:solidFill>
                  <a:schemeClr val="accent2"/>
                </a:solidFill>
              </a:rPr>
              <a:t>c.RHS</a:t>
            </a:r>
            <a:r>
              <a:rPr lang="en-US" sz="2000" dirty="0">
                <a:solidFill>
                  <a:schemeClr val="accent2"/>
                </a:solidFill>
              </a:rPr>
              <a:t> == 0:</a:t>
            </a:r>
          </a:p>
          <a:p>
            <a:pPr marL="800100" lvl="2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        print </a:t>
            </a:r>
            <a:r>
              <a:rPr lang="en-US" sz="2000" dirty="0" err="1">
                <a:solidFill>
                  <a:schemeClr val="accent2"/>
                </a:solidFill>
              </a:rPr>
              <a:t>c.constrName</a:t>
            </a:r>
            <a:r>
              <a:rPr lang="en-US" sz="2000" dirty="0">
                <a:solidFill>
                  <a:schemeClr val="accent2"/>
                </a:solidFill>
              </a:rPr>
              <a:t>, </a:t>
            </a:r>
            <a:r>
              <a:rPr lang="en-US" sz="2000" dirty="0" err="1">
                <a:solidFill>
                  <a:schemeClr val="accent2"/>
                </a:solidFill>
              </a:rPr>
              <a:t>c.RHS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dirty="0"/>
              <a:t>This function gets people in trouble, what do we need to look out for?  </a:t>
            </a:r>
          </a:p>
          <a:p>
            <a:pPr marL="800100" lvl="2" indent="0">
              <a:buNone/>
            </a:pPr>
            <a:endParaRPr lang="en-US" sz="2000" dirty="0">
              <a:solidFill>
                <a:schemeClr val="accent2"/>
              </a:solidFill>
            </a:endParaRPr>
          </a:p>
          <a:p>
            <a:pPr marL="800100" lvl="2" indent="0">
              <a:buNone/>
            </a:pP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38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Variable Bounds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programmatically update variable bounds</a:t>
            </a:r>
          </a:p>
          <a:p>
            <a:endParaRPr lang="en-US" dirty="0"/>
          </a:p>
          <a:p>
            <a:pPr marL="400050" lvl="1" indent="0">
              <a:buNone/>
            </a:pPr>
            <a:r>
              <a:rPr lang="en-US" dirty="0" err="1">
                <a:solidFill>
                  <a:schemeClr val="accent2"/>
                </a:solidFill>
              </a:rPr>
              <a:t>myConstrs</a:t>
            </a:r>
            <a:r>
              <a:rPr lang="en-US" dirty="0">
                <a:solidFill>
                  <a:schemeClr val="accent2"/>
                </a:solidFill>
              </a:rPr>
              <a:t> = </a:t>
            </a:r>
            <a:r>
              <a:rPr lang="en-US" dirty="0" err="1">
                <a:solidFill>
                  <a:schemeClr val="accent2"/>
                </a:solidFill>
              </a:rPr>
              <a:t>NFL.getConstrs</a:t>
            </a:r>
            <a:r>
              <a:rPr lang="en-US" dirty="0">
                <a:solidFill>
                  <a:schemeClr val="accent2"/>
                </a:solidFill>
              </a:rPr>
              <a:t>()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2"/>
                </a:solidFill>
              </a:rPr>
              <a:t>for c in </a:t>
            </a:r>
            <a:r>
              <a:rPr lang="en-US" dirty="0" err="1">
                <a:solidFill>
                  <a:schemeClr val="accent2"/>
                </a:solidFill>
              </a:rPr>
              <a:t>myConstrs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2"/>
                </a:solidFill>
              </a:rPr>
              <a:t>    if </a:t>
            </a:r>
            <a:r>
              <a:rPr lang="en-US" dirty="0" err="1">
                <a:solidFill>
                  <a:schemeClr val="accent2"/>
                </a:solidFill>
              </a:rPr>
              <a:t>c.sense</a:t>
            </a:r>
            <a:r>
              <a:rPr lang="en-US" dirty="0">
                <a:solidFill>
                  <a:schemeClr val="accent2"/>
                </a:solidFill>
              </a:rPr>
              <a:t> == '&lt;' and </a:t>
            </a:r>
            <a:r>
              <a:rPr lang="en-US" dirty="0" err="1">
                <a:solidFill>
                  <a:schemeClr val="accent2"/>
                </a:solidFill>
              </a:rPr>
              <a:t>c.RHS</a:t>
            </a:r>
            <a:r>
              <a:rPr lang="en-US" dirty="0">
                <a:solidFill>
                  <a:schemeClr val="accent2"/>
                </a:solidFill>
              </a:rPr>
              <a:t> == 0: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2"/>
                </a:solidFill>
              </a:rPr>
              <a:t>        print </a:t>
            </a:r>
            <a:r>
              <a:rPr lang="en-US" dirty="0" err="1">
                <a:solidFill>
                  <a:schemeClr val="accent2"/>
                </a:solidFill>
              </a:rPr>
              <a:t>c.constrName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 err="1">
                <a:solidFill>
                  <a:schemeClr val="accent2"/>
                </a:solidFill>
              </a:rPr>
              <a:t>c.RHS</a:t>
            </a:r>
            <a:endParaRPr lang="en-US" dirty="0">
              <a:solidFill>
                <a:schemeClr val="accent2"/>
              </a:solidFill>
            </a:endParaRPr>
          </a:p>
          <a:p>
            <a:pPr marL="400050" lvl="1" indent="0">
              <a:buNone/>
            </a:pPr>
            <a:r>
              <a:rPr lang="en-US" dirty="0">
                <a:solidFill>
                  <a:schemeClr val="accent2"/>
                </a:solidFill>
              </a:rPr>
              <a:t>        row = </a:t>
            </a:r>
            <a:r>
              <a:rPr lang="en-US" dirty="0" err="1">
                <a:solidFill>
                  <a:schemeClr val="accent2"/>
                </a:solidFill>
              </a:rPr>
              <a:t>NFL.getRow</a:t>
            </a:r>
            <a:r>
              <a:rPr lang="en-US" dirty="0">
                <a:solidFill>
                  <a:schemeClr val="accent2"/>
                </a:solidFill>
              </a:rPr>
              <a:t>(c)           -- gets all variables in constraint c 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2"/>
                </a:solidFill>
              </a:rPr>
              <a:t>        for r in range(</a:t>
            </a:r>
            <a:r>
              <a:rPr lang="en-US" dirty="0" err="1">
                <a:solidFill>
                  <a:schemeClr val="accent2"/>
                </a:solidFill>
              </a:rPr>
              <a:t>row.size</a:t>
            </a:r>
            <a:r>
              <a:rPr lang="en-US" dirty="0">
                <a:solidFill>
                  <a:schemeClr val="accent2"/>
                </a:solidFill>
              </a:rPr>
              <a:t>()):    </a:t>
            </a:r>
            <a:r>
              <a:rPr lang="en-US" dirty="0">
                <a:solidFill>
                  <a:schemeClr val="accent2"/>
                </a:solidFill>
                <a:highlight>
                  <a:srgbClr val="FFFF00"/>
                </a:highlight>
              </a:rPr>
              <a:t>****check if there are any variables names that 					aren’t ‘games’ if not set all variables 						in that row to zero to zero 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2"/>
                </a:solidFill>
              </a:rPr>
              <a:t>            </a:t>
            </a:r>
            <a:r>
              <a:rPr lang="en-US" dirty="0" err="1">
                <a:solidFill>
                  <a:schemeClr val="accent2"/>
                </a:solidFill>
              </a:rPr>
              <a:t>row.getVar</a:t>
            </a:r>
            <a:r>
              <a:rPr lang="en-US" dirty="0">
                <a:solidFill>
                  <a:schemeClr val="accent2"/>
                </a:solidFill>
              </a:rPr>
              <a:t>(r).</a:t>
            </a:r>
            <a:r>
              <a:rPr lang="en-US" dirty="0" err="1">
                <a:solidFill>
                  <a:schemeClr val="accent2"/>
                </a:solidFill>
              </a:rPr>
              <a:t>lb</a:t>
            </a:r>
            <a:r>
              <a:rPr lang="en-US" dirty="0">
                <a:solidFill>
                  <a:schemeClr val="accent2"/>
                </a:solidFill>
              </a:rPr>
              <a:t> == 0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2"/>
                </a:solidFill>
              </a:rPr>
              <a:t>            </a:t>
            </a:r>
            <a:r>
              <a:rPr lang="en-US" dirty="0" err="1">
                <a:solidFill>
                  <a:schemeClr val="accent2"/>
                </a:solidFill>
              </a:rPr>
              <a:t>row.getVar</a:t>
            </a:r>
            <a:r>
              <a:rPr lang="en-US" dirty="0">
                <a:solidFill>
                  <a:schemeClr val="accent2"/>
                </a:solidFill>
              </a:rPr>
              <a:t>(r).</a:t>
            </a:r>
            <a:r>
              <a:rPr lang="en-US" dirty="0" err="1">
                <a:solidFill>
                  <a:schemeClr val="accent2"/>
                </a:solidFill>
              </a:rPr>
              <a:t>ub</a:t>
            </a:r>
            <a:r>
              <a:rPr lang="en-US" dirty="0">
                <a:solidFill>
                  <a:schemeClr val="accent2"/>
                </a:solidFill>
              </a:rPr>
              <a:t> == 0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2"/>
                </a:solidFill>
              </a:rPr>
              <a:t>            </a:t>
            </a:r>
          </a:p>
          <a:p>
            <a:pPr marL="400050" lvl="1" indent="0">
              <a:buNone/>
            </a:pPr>
            <a:r>
              <a:rPr lang="en-US" dirty="0" err="1">
                <a:solidFill>
                  <a:schemeClr val="accent2"/>
                </a:solidFill>
              </a:rPr>
              <a:t>NFL.update</a:t>
            </a:r>
            <a:r>
              <a:rPr lang="en-US" dirty="0">
                <a:solidFill>
                  <a:schemeClr val="accent2"/>
                </a:solidFill>
              </a:rPr>
              <a:t>()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Sketching Out Our Plan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Handy Features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Reading in a model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Accessing variables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Accessing constraints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Computing the IIS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Reading the IIS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Changing variable bounds</a:t>
            </a:r>
          </a:p>
          <a:p>
            <a:r>
              <a:rPr lang="en-US" dirty="0"/>
              <a:t>Implementing Our Plan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Homework 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5761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for our Heuristic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Read in Model file</a:t>
            </a:r>
          </a:p>
          <a:p>
            <a:pPr marL="0" indent="0">
              <a:buNone/>
            </a:pPr>
            <a:r>
              <a:rPr lang="en-US" dirty="0"/>
              <a:t>With all primetime variables:</a:t>
            </a:r>
          </a:p>
          <a:p>
            <a:pPr marL="457200" lvl="1" indent="0">
              <a:buNone/>
            </a:pPr>
            <a:r>
              <a:rPr lang="en-US" dirty="0"/>
              <a:t>Save variable object in dictionary (working)</a:t>
            </a:r>
          </a:p>
          <a:p>
            <a:pPr marL="457200" lvl="1" indent="0">
              <a:buNone/>
            </a:pPr>
            <a:r>
              <a:rPr lang="en-US" dirty="0"/>
              <a:t>Save variable name and bounds in other dictionary (bookkeeping)</a:t>
            </a:r>
          </a:p>
          <a:p>
            <a:pPr marL="0" indent="0">
              <a:buNone/>
            </a:pPr>
            <a:r>
              <a:rPr lang="en-US" dirty="0"/>
              <a:t>Find all variables that can automatically be fixed to 0 (hard constraints &lt;= = zero) </a:t>
            </a:r>
          </a:p>
          <a:p>
            <a:pPr marL="0" indent="0">
              <a:buNone/>
            </a:pPr>
            <a:r>
              <a:rPr lang="en-US" dirty="0"/>
              <a:t>While True:</a:t>
            </a:r>
          </a:p>
          <a:p>
            <a:pPr marL="457200" lvl="1" indent="0">
              <a:buNone/>
            </a:pPr>
            <a:r>
              <a:rPr lang="en-US" dirty="0"/>
              <a:t>Write remaining free primetime variables to a separate</a:t>
            </a:r>
            <a:br>
              <a:rPr lang="en-US" dirty="0"/>
            </a:br>
            <a:r>
              <a:rPr lang="en-US" dirty="0"/>
              <a:t>dictionary</a:t>
            </a:r>
          </a:p>
          <a:p>
            <a:pPr marL="457200" lvl="1" indent="0">
              <a:buNone/>
            </a:pPr>
            <a:r>
              <a:rPr lang="en-US" dirty="0"/>
              <a:t>With each remaining free variables:</a:t>
            </a:r>
          </a:p>
          <a:p>
            <a:pPr marL="914400" lvl="2" indent="0">
              <a:buNone/>
            </a:pPr>
            <a:r>
              <a:rPr lang="en-US" dirty="0"/>
              <a:t>Fix one variable to “1” – </a:t>
            </a:r>
            <a:r>
              <a:rPr lang="en-US" dirty="0">
                <a:highlight>
                  <a:srgbClr val="FFFF00"/>
                </a:highlight>
              </a:rPr>
              <a:t>update the model EACH TIME CHANGED</a:t>
            </a:r>
          </a:p>
          <a:p>
            <a:pPr marL="914400" lvl="2" indent="0">
              <a:buNone/>
            </a:pPr>
            <a:r>
              <a:rPr lang="en-US" dirty="0"/>
              <a:t>Solve model for “30” seconds   (10 seconds serial) </a:t>
            </a:r>
          </a:p>
          <a:p>
            <a:pPr marL="914400" lvl="2" indent="0">
              <a:buNone/>
            </a:pPr>
            <a:r>
              <a:rPr lang="en-US" dirty="0"/>
              <a:t>If model is infeasible:</a:t>
            </a:r>
          </a:p>
          <a:p>
            <a:pPr marL="1371600" lvl="3" indent="0">
              <a:buNone/>
            </a:pPr>
            <a:r>
              <a:rPr lang="en-US" dirty="0"/>
              <a:t>Fix variable bounds permanently to 0</a:t>
            </a:r>
          </a:p>
          <a:p>
            <a:pPr marL="914400" lvl="2" indent="0">
              <a:buNone/>
            </a:pPr>
            <a:r>
              <a:rPr lang="en-US" dirty="0"/>
              <a:t>Else</a:t>
            </a:r>
          </a:p>
          <a:p>
            <a:pPr marL="1371600" lvl="3" indent="0">
              <a:buNone/>
            </a:pPr>
            <a:r>
              <a:rPr lang="en-US" dirty="0"/>
              <a:t>Reset variable bounds to 0 and 1</a:t>
            </a:r>
          </a:p>
          <a:p>
            <a:pPr marL="914400" lvl="2" indent="0">
              <a:buNone/>
            </a:pPr>
            <a:r>
              <a:rPr lang="en-US" dirty="0"/>
              <a:t>Update model</a:t>
            </a:r>
          </a:p>
          <a:p>
            <a:pPr marL="457200" lvl="1" indent="0">
              <a:buNone/>
            </a:pPr>
            <a:r>
              <a:rPr lang="en-US" dirty="0"/>
              <a:t>If a variable has changed bounds</a:t>
            </a:r>
          </a:p>
          <a:p>
            <a:pPr marL="914400" lvl="2" indent="0">
              <a:buNone/>
            </a:pPr>
            <a:r>
              <a:rPr lang="en-US" dirty="0"/>
              <a:t>Repeat loop</a:t>
            </a:r>
          </a:p>
          <a:p>
            <a:pPr marL="914400" lvl="2" indent="0">
              <a:buNone/>
            </a:pPr>
            <a:r>
              <a:rPr lang="en-US" dirty="0"/>
              <a:t>Record all primetime variable bounds in CSV file</a:t>
            </a:r>
          </a:p>
          <a:p>
            <a:pPr marL="457200" lvl="1" indent="0">
              <a:buNone/>
            </a:pPr>
            <a:r>
              <a:rPr lang="en-US" dirty="0"/>
              <a:t>Else</a:t>
            </a:r>
          </a:p>
          <a:p>
            <a:pPr marL="914400" lvl="2" indent="0">
              <a:buNone/>
            </a:pPr>
            <a:r>
              <a:rPr lang="en-US" dirty="0"/>
              <a:t>Write model file with fixed bounds</a:t>
            </a:r>
          </a:p>
          <a:p>
            <a:pPr marL="914400" lvl="2" indent="0">
              <a:buNone/>
            </a:pPr>
            <a:r>
              <a:rPr lang="en-US" dirty="0"/>
              <a:t>Exit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4730262" y="1863914"/>
            <a:ext cx="3180324" cy="369332"/>
            <a:chOff x="4730262" y="1863914"/>
            <a:chExt cx="3180324" cy="369332"/>
          </a:xfrm>
        </p:grpSpPr>
        <p:sp>
          <p:nvSpPr>
            <p:cNvPr id="5" name="TextBox 4"/>
            <p:cNvSpPr txBox="1"/>
            <p:nvPr/>
          </p:nvSpPr>
          <p:spPr>
            <a:xfrm>
              <a:off x="5758522" y="1863914"/>
              <a:ext cx="2152064" cy="36933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Why am I doing this?</a:t>
              </a:r>
            </a:p>
          </p:txBody>
        </p:sp>
        <p:cxnSp>
          <p:nvCxnSpPr>
            <p:cNvPr id="14" name="Straight Arrow Connector 13"/>
            <p:cNvCxnSpPr>
              <a:stCxn id="5" idx="1"/>
            </p:cNvCxnSpPr>
            <p:nvPr/>
          </p:nvCxnSpPr>
          <p:spPr>
            <a:xfrm flipH="1">
              <a:off x="4730262" y="2048580"/>
              <a:ext cx="10282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1"/>
            </p:cNvCxnSpPr>
            <p:nvPr/>
          </p:nvCxnSpPr>
          <p:spPr>
            <a:xfrm flipH="1">
              <a:off x="5037992" y="2048580"/>
              <a:ext cx="720530" cy="1846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6655704" y="2224602"/>
            <a:ext cx="2419203" cy="369332"/>
            <a:chOff x="4963038" y="2461846"/>
            <a:chExt cx="2419203" cy="369332"/>
          </a:xfrm>
        </p:grpSpPr>
        <p:sp>
          <p:nvSpPr>
            <p:cNvPr id="6" name="TextBox 5"/>
            <p:cNvSpPr txBox="1"/>
            <p:nvPr/>
          </p:nvSpPr>
          <p:spPr>
            <a:xfrm>
              <a:off x="5477168" y="2461846"/>
              <a:ext cx="1905073" cy="36933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How can I do this?</a:t>
              </a:r>
            </a:p>
          </p:txBody>
        </p:sp>
        <p:cxnSp>
          <p:nvCxnSpPr>
            <p:cNvPr id="18" name="Straight Arrow Connector 17"/>
            <p:cNvCxnSpPr>
              <a:stCxn id="6" idx="1"/>
            </p:cNvCxnSpPr>
            <p:nvPr/>
          </p:nvCxnSpPr>
          <p:spPr>
            <a:xfrm flipH="1">
              <a:off x="4963038" y="2646512"/>
              <a:ext cx="5141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5037992" y="2917791"/>
            <a:ext cx="2582008" cy="369332"/>
            <a:chOff x="5037992" y="2917791"/>
            <a:chExt cx="2582008" cy="369332"/>
          </a:xfrm>
        </p:grpSpPr>
        <p:sp>
          <p:nvSpPr>
            <p:cNvPr id="7" name="TextBox 6"/>
            <p:cNvSpPr txBox="1"/>
            <p:nvPr/>
          </p:nvSpPr>
          <p:spPr>
            <a:xfrm>
              <a:off x="5467936" y="2917791"/>
              <a:ext cx="2152064" cy="36933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Why am I doing this?</a:t>
              </a:r>
            </a:p>
          </p:txBody>
        </p:sp>
        <p:cxnSp>
          <p:nvCxnSpPr>
            <p:cNvPr id="20" name="Straight Arrow Connector 19"/>
            <p:cNvCxnSpPr>
              <a:stCxn id="7" idx="1"/>
            </p:cNvCxnSpPr>
            <p:nvPr/>
          </p:nvCxnSpPr>
          <p:spPr>
            <a:xfrm flipH="1">
              <a:off x="5037992" y="3102457"/>
              <a:ext cx="4299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3904919" y="3579796"/>
            <a:ext cx="4129894" cy="369332"/>
            <a:chOff x="3499338" y="3506903"/>
            <a:chExt cx="4129894" cy="369332"/>
          </a:xfrm>
        </p:grpSpPr>
        <p:sp>
          <p:nvSpPr>
            <p:cNvPr id="8" name="TextBox 7"/>
            <p:cNvSpPr txBox="1"/>
            <p:nvPr/>
          </p:nvSpPr>
          <p:spPr>
            <a:xfrm>
              <a:off x="5477168" y="3506903"/>
              <a:ext cx="2152064" cy="36933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Why am I doing this?</a:t>
              </a:r>
            </a:p>
          </p:txBody>
        </p:sp>
        <p:cxnSp>
          <p:nvCxnSpPr>
            <p:cNvPr id="22" name="Straight Arrow Connector 21"/>
            <p:cNvCxnSpPr>
              <a:stCxn id="8" idx="1"/>
            </p:cNvCxnSpPr>
            <p:nvPr/>
          </p:nvCxnSpPr>
          <p:spPr>
            <a:xfrm flipH="1">
              <a:off x="3499338" y="3691569"/>
              <a:ext cx="19778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3499338" y="4767136"/>
            <a:ext cx="4619772" cy="369332"/>
            <a:chOff x="3499338" y="4585900"/>
            <a:chExt cx="4619772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5477168" y="4585900"/>
              <a:ext cx="2641942" cy="36933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How can I determine this?</a:t>
              </a:r>
            </a:p>
          </p:txBody>
        </p:sp>
        <p:cxnSp>
          <p:nvCxnSpPr>
            <p:cNvPr id="24" name="Straight Arrow Connector 23"/>
            <p:cNvCxnSpPr>
              <a:stCxn id="11" idx="1"/>
            </p:cNvCxnSpPr>
            <p:nvPr/>
          </p:nvCxnSpPr>
          <p:spPr>
            <a:xfrm flipH="1">
              <a:off x="3499338" y="4770566"/>
              <a:ext cx="19778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4448908" y="5187913"/>
            <a:ext cx="3171092" cy="369332"/>
            <a:chOff x="4448908" y="5006677"/>
            <a:chExt cx="3171092" cy="369332"/>
          </a:xfrm>
        </p:grpSpPr>
        <p:sp>
          <p:nvSpPr>
            <p:cNvPr id="10" name="TextBox 9"/>
            <p:cNvSpPr txBox="1"/>
            <p:nvPr/>
          </p:nvSpPr>
          <p:spPr>
            <a:xfrm>
              <a:off x="5467936" y="5006677"/>
              <a:ext cx="2152064" cy="36933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Why am I doing this?</a:t>
              </a:r>
            </a:p>
          </p:txBody>
        </p:sp>
        <p:cxnSp>
          <p:nvCxnSpPr>
            <p:cNvPr id="27" name="Straight Arrow Connector 26"/>
            <p:cNvCxnSpPr>
              <a:stCxn id="10" idx="1"/>
            </p:cNvCxnSpPr>
            <p:nvPr/>
          </p:nvCxnSpPr>
          <p:spPr>
            <a:xfrm flipH="1">
              <a:off x="4448908" y="5191343"/>
              <a:ext cx="101902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3675185" y="5587421"/>
            <a:ext cx="3964927" cy="369332"/>
            <a:chOff x="3675185" y="5406185"/>
            <a:chExt cx="3964927" cy="369332"/>
          </a:xfrm>
        </p:grpSpPr>
        <p:sp>
          <p:nvSpPr>
            <p:cNvPr id="12" name="TextBox 11"/>
            <p:cNvSpPr txBox="1"/>
            <p:nvPr/>
          </p:nvSpPr>
          <p:spPr>
            <a:xfrm>
              <a:off x="5488048" y="5406185"/>
              <a:ext cx="2152064" cy="36933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Why am I doing this?</a:t>
              </a:r>
            </a:p>
          </p:txBody>
        </p:sp>
        <p:cxnSp>
          <p:nvCxnSpPr>
            <p:cNvPr id="29" name="Straight Arrow Connector 28"/>
            <p:cNvCxnSpPr>
              <a:stCxn id="12" idx="1"/>
            </p:cNvCxnSpPr>
            <p:nvPr/>
          </p:nvCxnSpPr>
          <p:spPr>
            <a:xfrm flipH="1" flipV="1">
              <a:off x="3675185" y="5575109"/>
              <a:ext cx="1812863" cy="157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496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Sketching Out Our Plan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Handy Features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Reading in a model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Accessing variables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Accessing constraints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Computing the IIS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Reading the IIS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Changing variable bounds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Implementing Our Plan</a:t>
            </a:r>
          </a:p>
          <a:p>
            <a:r>
              <a:rPr lang="en-US" dirty="0"/>
              <a:t>Homework 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/>
              <a:p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6378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09 Set Up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NFL model does not solve in reasonable amount of time</a:t>
            </a:r>
          </a:p>
          <a:p>
            <a:r>
              <a:rPr lang="en-US" sz="1600" dirty="0"/>
              <a:t>Instead they seed the schedule with games locked at 1 (usually prime time games)</a:t>
            </a:r>
          </a:p>
          <a:p>
            <a:r>
              <a:rPr lang="en-US" sz="1600" dirty="0"/>
              <a:t>Problem is, the seeding algorithm generates many, many, many infeasible formulations</a:t>
            </a:r>
          </a:p>
          <a:p>
            <a:r>
              <a:rPr lang="en-US" sz="1600" dirty="0"/>
              <a:t>NFL is looking for a method to fix this</a:t>
            </a:r>
          </a:p>
          <a:p>
            <a:r>
              <a:rPr lang="en-US" sz="1600" dirty="0"/>
              <a:t>Big project is to find a way to develop a higher rate of feasible seed sets</a:t>
            </a:r>
          </a:p>
          <a:p>
            <a:r>
              <a:rPr lang="en-US" sz="1600" dirty="0"/>
              <a:t>Concept:  </a:t>
            </a:r>
          </a:p>
          <a:p>
            <a:pPr lvl="1"/>
            <a:r>
              <a:rPr lang="en-US" sz="1400" dirty="0"/>
              <a:t>Find all primetime variables that cause the model to be infeasible when set to “1”</a:t>
            </a:r>
          </a:p>
          <a:p>
            <a:pPr lvl="1"/>
            <a:r>
              <a:rPr lang="en-US" sz="1400" dirty="0"/>
              <a:t>Remove those variables from the model by setting UB to zero</a:t>
            </a:r>
          </a:p>
          <a:p>
            <a:pPr lvl="1"/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Make reduced LP that only has Primetime as BINARY, all others as continuous, or </a:t>
            </a:r>
            <a:br>
              <a:rPr lang="en-US" sz="14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remove all non-primetime variables and solve much faster smaller model</a:t>
            </a:r>
          </a:p>
          <a:p>
            <a:pPr lvl="1"/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Seed games in original model, solve model for 10 seconds</a:t>
            </a:r>
          </a:p>
          <a:p>
            <a:pPr lvl="1"/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If model is infeasible add Feasibility cut to reduced model</a:t>
            </a:r>
          </a:p>
          <a:p>
            <a:pPr lvl="1"/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If model is feasible after 10 seconds add solution cut to reduced model, save seed for later use</a:t>
            </a:r>
          </a:p>
          <a:p>
            <a:r>
              <a:rPr lang="en-US" sz="1600" dirty="0"/>
              <a:t>NOTE:  We will be using an actual NFL model file from the 2017 season scheduling process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35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09 (30 Points)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PASS (30) or FAIL (20) or don’t turn in (0)</a:t>
            </a:r>
          </a:p>
          <a:p>
            <a:r>
              <a:rPr lang="en-US" dirty="0"/>
              <a:t>Write Python script that reads in NFL model (in Lesson 11 content folder)</a:t>
            </a:r>
          </a:p>
          <a:p>
            <a:r>
              <a:rPr lang="en-US" dirty="0"/>
              <a:t>Removes primetime variables from model that are fixed at 0</a:t>
            </a:r>
          </a:p>
          <a:p>
            <a:r>
              <a:rPr lang="en-US" dirty="0"/>
              <a:t>“Probes” the model by iteratively fixing the remaining “PRIMETIME” variables at 1 and determining if model is feasible</a:t>
            </a:r>
          </a:p>
          <a:p>
            <a:pPr lvl="1"/>
            <a:r>
              <a:rPr lang="en-US" dirty="0"/>
              <a:t>If not feasible, fix bounds at 0 </a:t>
            </a:r>
          </a:p>
          <a:p>
            <a:pPr lvl="1"/>
            <a:r>
              <a:rPr lang="en-US" dirty="0"/>
              <a:t>Record result in dictionary</a:t>
            </a:r>
          </a:p>
          <a:p>
            <a:r>
              <a:rPr lang="en-US" dirty="0"/>
              <a:t>Do this on your desktop computer</a:t>
            </a:r>
          </a:p>
          <a:p>
            <a:r>
              <a:rPr lang="en-US" dirty="0"/>
              <a:t>How long do you think this will take?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6935-1303-44BA-BDF9-B541015E6A7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31722"/>
      </p:ext>
    </p:extLst>
  </p:cSld>
  <p:clrMapOvr>
    <a:masterClrMapping/>
  </p:clrMapOvr>
</p:sld>
</file>

<file path=ppt/theme/theme1.xml><?xml version="1.0" encoding="utf-8"?>
<a:theme xmlns:a="http://schemas.openxmlformats.org/drawingml/2006/main" name="1_OR604Template">
  <a:themeElements>
    <a:clrScheme name="Mason 1">
      <a:dk1>
        <a:srgbClr val="000000"/>
      </a:dk1>
      <a:lt1>
        <a:srgbClr val="FFFFFF"/>
      </a:lt1>
      <a:dk2>
        <a:srgbClr val="505A2D"/>
      </a:dk2>
      <a:lt2>
        <a:srgbClr val="9EB060"/>
      </a:lt2>
      <a:accent1>
        <a:srgbClr val="505A2D"/>
      </a:accent1>
      <a:accent2>
        <a:srgbClr val="788843"/>
      </a:accent2>
      <a:accent3>
        <a:srgbClr val="C4CF9F"/>
      </a:accent3>
      <a:accent4>
        <a:srgbClr val="D8DFBF"/>
      </a:accent4>
      <a:accent5>
        <a:srgbClr val="EBEFDF"/>
      </a:accent5>
      <a:accent6>
        <a:srgbClr val="F8FAF4"/>
      </a:accent6>
      <a:hlink>
        <a:srgbClr val="006600"/>
      </a:hlink>
      <a:folHlink>
        <a:srgbClr val="00CC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1320</TotalTime>
  <Words>1908</Words>
  <Application>Microsoft Office PowerPoint</Application>
  <PresentationFormat>On-screen Show (4:3)</PresentationFormat>
  <Paragraphs>252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1_OR604Template</vt:lpstr>
      <vt:lpstr>OR 604 Practical Optimization</vt:lpstr>
      <vt:lpstr>Homework 08 (60 points)</vt:lpstr>
      <vt:lpstr>Pedagogical Approach for Rest of Course</vt:lpstr>
      <vt:lpstr>The NFL problem</vt:lpstr>
      <vt:lpstr>The Current NFL Seeding Algorithm</vt:lpstr>
      <vt:lpstr>Our Approach</vt:lpstr>
      <vt:lpstr>Our Approach</vt:lpstr>
      <vt:lpstr>PowerPoint Presentation</vt:lpstr>
      <vt:lpstr>Your Approach</vt:lpstr>
      <vt:lpstr>High Level Plan For Your Heuristic</vt:lpstr>
      <vt:lpstr>Agenda</vt:lpstr>
      <vt:lpstr>Read in a model file</vt:lpstr>
      <vt:lpstr>Accessing Variables</vt:lpstr>
      <vt:lpstr>Accessing Constraints</vt:lpstr>
      <vt:lpstr>Changing Variable Bounds</vt:lpstr>
      <vt:lpstr>Agenda</vt:lpstr>
      <vt:lpstr>Pseudocode for our Heuristic</vt:lpstr>
      <vt:lpstr>Agenda</vt:lpstr>
      <vt:lpstr>Homework 09 Set Up </vt:lpstr>
      <vt:lpstr>Homework 09 (30 Points)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 604 Practical Optimization</dc:title>
  <dc:creator>Steve</dc:creator>
  <cp:lastModifiedBy>William D Ermlick</cp:lastModifiedBy>
  <cp:revision>92</cp:revision>
  <dcterms:created xsi:type="dcterms:W3CDTF">2016-03-27T17:17:41Z</dcterms:created>
  <dcterms:modified xsi:type="dcterms:W3CDTF">2019-04-17T03:01:02Z</dcterms:modified>
</cp:coreProperties>
</file>